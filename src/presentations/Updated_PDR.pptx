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523"/>
    <a:srgbClr val="8F993E"/>
    <a:srgbClr val="EDB315"/>
    <a:srgbClr val="5D1725"/>
    <a:srgbClr val="C1C6C8"/>
    <a:srgbClr val="DAC79D"/>
    <a:srgbClr val="642F6C"/>
    <a:srgbClr val="007FA3"/>
    <a:srgbClr val="FFB81C"/>
    <a:srgbClr val="A94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-144" y="-2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E107B-3107-4A92-B3B1-CBE303D50A4E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0888B-65E8-44FA-8CFE-749D1D9E9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0888B-65E8-44FA-8CFE-749D1D9E93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53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6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8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6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3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7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6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3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1481D-26F5-45D5-AB7A-8473E4BD8352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F740C0E-EE73-4713-B1D9-2F35CED42A7E}"/>
              </a:ext>
            </a:extLst>
          </p:cNvPr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8C70C5-1577-4C82-B0CD-CD674027D38B}"/>
              </a:ext>
            </a:extLst>
          </p:cNvPr>
          <p:cNvSpPr/>
          <p:nvPr/>
        </p:nvSpPr>
        <p:spPr>
          <a:xfrm>
            <a:off x="457200" y="501444"/>
            <a:ext cx="42976800" cy="5486400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 anchorCtr="0"/>
          <a:lstStyle/>
          <a:p>
            <a:pPr algn="ctr">
              <a:spcAft>
                <a:spcPts val="600"/>
              </a:spcAft>
            </a:pPr>
            <a:r>
              <a:rPr lang="en-US" sz="8000" b="1">
                <a:latin typeface="Arial"/>
                <a:cs typeface="Arial"/>
              </a:rPr>
              <a:t>Forest Buddy</a:t>
            </a:r>
            <a:endParaRPr lang="en-US" sz="8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400" b="1">
                <a:latin typeface="Arial"/>
                <a:cs typeface="Arial"/>
              </a:rPr>
              <a:t>John Allen (Project Manager), Joshua McGee (Chief Scientist),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4400" b="1">
                <a:latin typeface="Arial"/>
                <a:cs typeface="Arial"/>
              </a:rPr>
              <a:t>Landon Garrett (CPE), Gerardo Hernandez (EE), Alten Reeves (EE), Lane Williams (EE)</a:t>
            </a:r>
            <a:endParaRPr lang="en-US">
              <a:ea typeface="Calibri"/>
              <a:cs typeface="Calibri"/>
            </a:endParaRPr>
          </a:p>
          <a:p>
            <a:pPr algn="ctr">
              <a:spcBef>
                <a:spcPts val="2400"/>
              </a:spcBef>
              <a:spcAft>
                <a:spcPts val="1200"/>
              </a:spcAft>
            </a:pP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Department of Electrical and Computer Engineering</a:t>
            </a:r>
          </a:p>
          <a:p>
            <a:pPr algn="ctr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Mississippi State University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8642F-9FB3-41C7-A31D-1100897A1E06}"/>
              </a:ext>
            </a:extLst>
          </p:cNvPr>
          <p:cNvSpPr/>
          <p:nvPr/>
        </p:nvSpPr>
        <p:spPr>
          <a:xfrm>
            <a:off x="504391" y="7602734"/>
            <a:ext cx="10928743" cy="248451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1177FB-132F-41AE-B3CC-479142CC59C6}"/>
              </a:ext>
            </a:extLst>
          </p:cNvPr>
          <p:cNvSpPr/>
          <p:nvPr/>
        </p:nvSpPr>
        <p:spPr>
          <a:xfrm>
            <a:off x="12146389" y="7693852"/>
            <a:ext cx="20242223" cy="168179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00E16-ACDD-427E-8A7A-A9584FB281DE}"/>
              </a:ext>
            </a:extLst>
          </p:cNvPr>
          <p:cNvSpPr/>
          <p:nvPr/>
        </p:nvSpPr>
        <p:spPr>
          <a:xfrm>
            <a:off x="33083299" y="6387487"/>
            <a:ext cx="10405872" cy="2606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D9AB3E-185C-4461-BE1E-468E813EF4B5}"/>
              </a:ext>
            </a:extLst>
          </p:cNvPr>
          <p:cNvSpPr/>
          <p:nvPr/>
        </p:nvSpPr>
        <p:spPr>
          <a:xfrm>
            <a:off x="457199" y="6356556"/>
            <a:ext cx="10994503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Problem and Target User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43A7E-217C-46F1-80A5-47AB1696F560}"/>
              </a:ext>
            </a:extLst>
          </p:cNvPr>
          <p:cNvSpPr/>
          <p:nvPr/>
        </p:nvSpPr>
        <p:spPr>
          <a:xfrm>
            <a:off x="506849" y="24836713"/>
            <a:ext cx="10961648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Competitive Advantages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D665A7-0D16-47C6-A4FF-691A06789E7A}"/>
              </a:ext>
            </a:extLst>
          </p:cNvPr>
          <p:cNvSpPr/>
          <p:nvPr/>
        </p:nvSpPr>
        <p:spPr>
          <a:xfrm>
            <a:off x="554041" y="13401677"/>
            <a:ext cx="1098524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Previous Solutions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07A1FE-923E-4210-8AFB-5C7561C91831}"/>
              </a:ext>
            </a:extLst>
          </p:cNvPr>
          <p:cNvSpPr/>
          <p:nvPr/>
        </p:nvSpPr>
        <p:spPr>
          <a:xfrm>
            <a:off x="33101868" y="6356556"/>
            <a:ext cx="10387303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Broader Impact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51C77F-10BB-4E6A-9909-9126F97FBC15}"/>
              </a:ext>
            </a:extLst>
          </p:cNvPr>
          <p:cNvSpPr/>
          <p:nvPr/>
        </p:nvSpPr>
        <p:spPr>
          <a:xfrm>
            <a:off x="12137104" y="6322251"/>
            <a:ext cx="2026079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 dirty="0">
                <a:latin typeface="Arial"/>
                <a:cs typeface="Arial"/>
              </a:rPr>
              <a:t>Solution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D8B69-B6A6-459B-A5AF-3134828AF626}"/>
              </a:ext>
            </a:extLst>
          </p:cNvPr>
          <p:cNvSpPr txBox="1"/>
          <p:nvPr/>
        </p:nvSpPr>
        <p:spPr>
          <a:xfrm>
            <a:off x="504391" y="7754789"/>
            <a:ext cx="10283553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Nearly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11%</a:t>
            </a:r>
            <a:r>
              <a:rPr lang="en-US" sz="4400">
                <a:latin typeface="Arial"/>
                <a:ea typeface="Calibri"/>
                <a:cs typeface="Arial"/>
              </a:rPr>
              <a:t> of forests in the US are exposed to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drought</a:t>
            </a:r>
            <a:r>
              <a:rPr lang="en-US" sz="4400">
                <a:latin typeface="Arial"/>
                <a:ea typeface="Calibri"/>
                <a:cs typeface="Arial"/>
              </a:rPr>
              <a:t>, expected to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rise</a:t>
            </a:r>
            <a:r>
              <a:rPr lang="en-US" sz="4400">
                <a:latin typeface="Arial"/>
                <a:ea typeface="Calibri"/>
                <a:cs typeface="Arial"/>
              </a:rPr>
              <a:t> to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38%</a:t>
            </a:r>
            <a:r>
              <a:rPr lang="en-US" sz="4400">
                <a:latin typeface="Arial"/>
                <a:ea typeface="Calibri"/>
                <a:cs typeface="Arial"/>
              </a:rPr>
              <a:t> by mid-century [1].</a:t>
            </a:r>
          </a:p>
          <a:p>
            <a:pPr marL="1028700" lvl="1" indent="-571500" algn="just">
              <a:buFont typeface="Arial"/>
              <a:buChar char="•"/>
            </a:pP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11-16%</a:t>
            </a:r>
            <a:r>
              <a:rPr lang="en-US" sz="4400">
                <a:latin typeface="Arial"/>
                <a:ea typeface="Calibri"/>
                <a:cs typeface="Arial"/>
              </a:rPr>
              <a:t> of tree species are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threatened</a:t>
            </a:r>
            <a:r>
              <a:rPr lang="en-US" sz="4400">
                <a:latin typeface="Arial"/>
                <a:ea typeface="Calibri"/>
                <a:cs typeface="Arial"/>
              </a:rPr>
              <a:t> by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extinction</a:t>
            </a:r>
            <a:r>
              <a:rPr lang="en-US" sz="4400">
                <a:latin typeface="Arial"/>
                <a:ea typeface="Calibri"/>
                <a:cs typeface="Arial"/>
              </a:rPr>
              <a:t> due to pests and diseases [2].</a:t>
            </a:r>
          </a:p>
          <a:p>
            <a:pPr marL="1028700" lvl="1" indent="-571500" algn="just"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Target Audience is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foresters</a:t>
            </a:r>
            <a:r>
              <a:rPr lang="en-US" sz="4400">
                <a:solidFill>
                  <a:srgbClr val="000000"/>
                </a:solidFill>
                <a:latin typeface="Arial"/>
                <a:ea typeface="Calibri"/>
                <a:cs typeface="Arial"/>
              </a:rPr>
              <a:t> or </a:t>
            </a:r>
            <a:r>
              <a:rPr lang="en-US" sz="4400" b="1">
                <a:solidFill>
                  <a:srgbClr val="375523"/>
                </a:solidFill>
                <a:latin typeface="Arial"/>
                <a:ea typeface="Calibri"/>
                <a:cs typeface="Arial"/>
              </a:rPr>
              <a:t>land managers</a:t>
            </a:r>
            <a:r>
              <a:rPr lang="en-US" sz="4400" b="1">
                <a:latin typeface="Arial"/>
                <a:ea typeface="Calibri"/>
                <a:cs typeface="Arial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BA15B-A88E-4301-B2D7-492553D34EDB}"/>
              </a:ext>
            </a:extLst>
          </p:cNvPr>
          <p:cNvSpPr txBox="1"/>
          <p:nvPr/>
        </p:nvSpPr>
        <p:spPr>
          <a:xfrm>
            <a:off x="532913" y="15348892"/>
            <a:ext cx="10496703" cy="90794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4800" b="1" dirty="0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 Leaf Link</a:t>
            </a:r>
            <a:endParaRPr lang="en-US" sz="4800" b="1" dirty="0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44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Used a pulley system.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44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Extremely limited mobility.</a:t>
            </a:r>
            <a:endParaRPr lang="en-US" sz="4400" dirty="0">
              <a:ea typeface="Calibri"/>
              <a:cs typeface="Calibri"/>
            </a:endParaRPr>
          </a:p>
          <a:p>
            <a:pPr marL="571500" indent="-571500" algn="just">
              <a:buFont typeface="Arial"/>
              <a:buChar char="•"/>
            </a:pPr>
            <a:endParaRPr lang="en-US" sz="4400" dirty="0"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algn="just"/>
            <a:r>
              <a:rPr lang="en-US" sz="4400" b="1" dirty="0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 </a:t>
            </a:r>
            <a:r>
              <a:rPr lang="en-US" sz="4800" b="1" dirty="0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Manual Inspection</a:t>
            </a:r>
          </a:p>
          <a:p>
            <a:pPr marL="1028700" lvl="1" indent="-571500" algn="just">
              <a:buFont typeface="Arial"/>
              <a:buChar char="•"/>
            </a:pPr>
            <a:r>
              <a:rPr lang="en-US" sz="44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Economical, but impractical for inspecting large areas, and often too late to detect diseases [3], [4].</a:t>
            </a:r>
            <a:endParaRPr lang="en-US" sz="4400" dirty="0">
              <a:ea typeface="Calibri"/>
              <a:cs typeface="Calibri"/>
            </a:endParaRPr>
          </a:p>
          <a:p>
            <a:pPr lvl="1" algn="just"/>
            <a:endParaRPr lang="en-US" sz="4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algn="just"/>
            <a:r>
              <a:rPr lang="en-US" sz="4400" b="1" dirty="0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 </a:t>
            </a:r>
            <a:r>
              <a:rPr lang="en-US" sz="4800" b="1" dirty="0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Lab Testing</a:t>
            </a:r>
          </a:p>
          <a:p>
            <a:pPr marL="1028700" lvl="1" indent="-571500" algn="just">
              <a:buFont typeface="Arial"/>
              <a:buChar char="•"/>
            </a:pPr>
            <a:r>
              <a:rPr lang="en-US" sz="44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Fast and effective, but requires the tree to be cut, which harms the tree [3],[4].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31BEBF-EAAA-4BAD-939F-1D3F1E3AEB78}"/>
              </a:ext>
            </a:extLst>
          </p:cNvPr>
          <p:cNvSpPr txBox="1"/>
          <p:nvPr/>
        </p:nvSpPr>
        <p:spPr>
          <a:xfrm>
            <a:off x="936021" y="26974231"/>
            <a:ext cx="9851923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Catches disease earlier than manual methods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More time efficient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Inexpensive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Data collection is non-destructive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Scalable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270B09-4A63-4196-BEFB-7418E0886DF9}"/>
              </a:ext>
            </a:extLst>
          </p:cNvPr>
          <p:cNvSpPr txBox="1"/>
          <p:nvPr/>
        </p:nvSpPr>
        <p:spPr>
          <a:xfrm>
            <a:off x="33152528" y="7937382"/>
            <a:ext cx="10264257" cy="113569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4400" b="1" dirty="0">
                <a:solidFill>
                  <a:srgbClr val="375523"/>
                </a:solidFill>
                <a:latin typeface="Arial"/>
                <a:ea typeface="Calibri"/>
                <a:cs typeface="Arial"/>
              </a:rPr>
              <a:t>Benefits for target user</a:t>
            </a:r>
            <a:endParaRPr lang="en-US" sz="4400" b="1" dirty="0">
              <a:solidFill>
                <a:srgbClr val="375523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 dirty="0">
                <a:latin typeface="Arial"/>
                <a:ea typeface="Calibri"/>
                <a:cs typeface="Arial"/>
              </a:rPr>
              <a:t>Cuts labor and time costs of inspecting large quantities of trees.</a:t>
            </a:r>
            <a:endParaRPr lang="en-US" sz="4000" dirty="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 dirty="0">
                <a:latin typeface="Arial"/>
                <a:ea typeface="Calibri"/>
                <a:cs typeface="Arial"/>
              </a:rPr>
              <a:t>Nondestructive; requires no trees to be harmed.</a:t>
            </a:r>
            <a:endParaRPr lang="en-US" sz="4000" dirty="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 dirty="0">
                <a:latin typeface="Arial"/>
                <a:ea typeface="Calibri"/>
                <a:cs typeface="Arial"/>
              </a:rPr>
              <a:t>Catches drought and disease early.</a:t>
            </a:r>
            <a:endParaRPr lang="en-US" sz="4000" dirty="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endParaRPr lang="en-US" sz="40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just"/>
            <a:r>
              <a:rPr lang="en-US" sz="4400" b="1" dirty="0">
                <a:solidFill>
                  <a:srgbClr val="375523"/>
                </a:solidFill>
                <a:latin typeface="Arial"/>
                <a:ea typeface="Calibri"/>
                <a:cs typeface="Arial"/>
              </a:rPr>
              <a:t>Potential impacts in other fields</a:t>
            </a:r>
            <a:endParaRPr lang="en-US" sz="4400" b="1" dirty="0">
              <a:solidFill>
                <a:srgbClr val="375523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 dirty="0">
                <a:latin typeface="Arial"/>
                <a:ea typeface="Calibri"/>
                <a:cs typeface="Arial"/>
              </a:rPr>
              <a:t>Forest Buddy could help the power industry by detecting at-risk trees near powerlines.</a:t>
            </a:r>
            <a:endParaRPr lang="en-US" sz="4000" dirty="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000" dirty="0">
                <a:latin typeface="Arial"/>
                <a:ea typeface="Calibri"/>
                <a:cs typeface="Arial"/>
              </a:rPr>
              <a:t>It could help with fighting wildfires as canopy moisture data could be used for regional fire risk models.</a:t>
            </a:r>
            <a:endParaRPr lang="en-US" sz="4000" dirty="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endParaRPr lang="en-US" sz="40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just"/>
            <a:r>
              <a:rPr lang="en-US" sz="4400" b="1" dirty="0">
                <a:solidFill>
                  <a:srgbClr val="375523"/>
                </a:solidFill>
                <a:latin typeface="Arial"/>
                <a:ea typeface="Calibri"/>
                <a:cs typeface="Arial"/>
              </a:rPr>
              <a:t>Unlikely Byproducts</a:t>
            </a:r>
            <a:endParaRPr lang="en-US" sz="4400" b="1" dirty="0">
              <a:solidFill>
                <a:srgbClr val="375523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The</a:t>
            </a:r>
            <a:r>
              <a:rPr lang="en-US" sz="4000" dirty="0">
                <a:latin typeface="Arial"/>
                <a:ea typeface="Calibri"/>
                <a:cs typeface="Arial"/>
              </a:rPr>
              <a:t> sensors could be changed to monitor other environmental characteristics.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E7138-C78E-4502-B798-9AC7774DCFBC}"/>
              </a:ext>
            </a:extLst>
          </p:cNvPr>
          <p:cNvSpPr/>
          <p:nvPr/>
        </p:nvSpPr>
        <p:spPr>
          <a:xfrm>
            <a:off x="-3887336" y="8531143"/>
            <a:ext cx="997527" cy="997527"/>
          </a:xfrm>
          <a:prstGeom prst="rect">
            <a:avLst/>
          </a:prstGeom>
          <a:solidFill>
            <a:srgbClr val="A94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3757F6-3E82-4CCF-BB8A-66790A1B1CD7}"/>
              </a:ext>
            </a:extLst>
          </p:cNvPr>
          <p:cNvSpPr/>
          <p:nvPr/>
        </p:nvSpPr>
        <p:spPr>
          <a:xfrm>
            <a:off x="-3887335" y="9895669"/>
            <a:ext cx="997527" cy="997527"/>
          </a:xfrm>
          <a:prstGeom prst="rect">
            <a:avLst/>
          </a:prstGeom>
          <a:solidFill>
            <a:srgbClr val="EDB3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2D7C8E-9880-4351-BCF6-A5B14EA3994D}"/>
              </a:ext>
            </a:extLst>
          </p:cNvPr>
          <p:cNvSpPr/>
          <p:nvPr/>
        </p:nvSpPr>
        <p:spPr>
          <a:xfrm>
            <a:off x="-3887336" y="11197996"/>
            <a:ext cx="997527" cy="997527"/>
          </a:xfrm>
          <a:prstGeom prst="rect">
            <a:avLst/>
          </a:prstGeom>
          <a:solidFill>
            <a:srgbClr val="007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2670F8-5824-42C5-A406-50D45EB83023}"/>
              </a:ext>
            </a:extLst>
          </p:cNvPr>
          <p:cNvSpPr/>
          <p:nvPr/>
        </p:nvSpPr>
        <p:spPr>
          <a:xfrm>
            <a:off x="-3887336" y="12500323"/>
            <a:ext cx="997527" cy="997527"/>
          </a:xfrm>
          <a:prstGeom prst="rect">
            <a:avLst/>
          </a:prstGeom>
          <a:solidFill>
            <a:srgbClr val="8F9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F993E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897A04-87B4-45CC-9A0F-AF4863B6C551}"/>
              </a:ext>
            </a:extLst>
          </p:cNvPr>
          <p:cNvSpPr/>
          <p:nvPr/>
        </p:nvSpPr>
        <p:spPr>
          <a:xfrm>
            <a:off x="-3887336" y="13802650"/>
            <a:ext cx="997527" cy="997527"/>
          </a:xfrm>
          <a:prstGeom prst="rect">
            <a:avLst/>
          </a:prstGeom>
          <a:solidFill>
            <a:srgbClr val="642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C7CA4C-B35C-469C-88E2-A811BE72E3B2}"/>
              </a:ext>
            </a:extLst>
          </p:cNvPr>
          <p:cNvSpPr/>
          <p:nvPr/>
        </p:nvSpPr>
        <p:spPr>
          <a:xfrm>
            <a:off x="-3887336" y="15102296"/>
            <a:ext cx="997527" cy="997527"/>
          </a:xfrm>
          <a:prstGeom prst="rect">
            <a:avLst/>
          </a:prstGeom>
          <a:solidFill>
            <a:srgbClr val="DAC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084BDE-29BF-48AC-A86E-CE4693095E93}"/>
              </a:ext>
            </a:extLst>
          </p:cNvPr>
          <p:cNvSpPr/>
          <p:nvPr/>
        </p:nvSpPr>
        <p:spPr>
          <a:xfrm>
            <a:off x="-3887336" y="16401942"/>
            <a:ext cx="997527" cy="997527"/>
          </a:xfrm>
          <a:prstGeom prst="rect">
            <a:avLst/>
          </a:prstGeom>
          <a:solidFill>
            <a:srgbClr val="C1C6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105100-39BA-4AA8-BA9E-463262EB857A}"/>
              </a:ext>
            </a:extLst>
          </p:cNvPr>
          <p:cNvSpPr/>
          <p:nvPr/>
        </p:nvSpPr>
        <p:spPr>
          <a:xfrm>
            <a:off x="-3887336" y="17701588"/>
            <a:ext cx="997527" cy="997527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1C5109-18A0-4AD4-A094-AA710452CAD1}"/>
              </a:ext>
            </a:extLst>
          </p:cNvPr>
          <p:cNvSpPr/>
          <p:nvPr/>
        </p:nvSpPr>
        <p:spPr>
          <a:xfrm>
            <a:off x="-3622801" y="1964076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9D3E32-1FDE-4F47-9F5B-472D0774F6C2}"/>
              </a:ext>
            </a:extLst>
          </p:cNvPr>
          <p:cNvSpPr txBox="1"/>
          <p:nvPr/>
        </p:nvSpPr>
        <p:spPr>
          <a:xfrm>
            <a:off x="-5982570" y="21972926"/>
            <a:ext cx="51767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0.5” Square that can be </a:t>
            </a:r>
            <a:br>
              <a:rPr lang="en-US" sz="4000"/>
            </a:br>
            <a:r>
              <a:rPr lang="en-US" sz="4000"/>
              <a:t>used for measuring </a:t>
            </a:r>
            <a:br>
              <a:rPr lang="en-US" sz="4000"/>
            </a:br>
            <a:r>
              <a:rPr lang="en-US" sz="4000"/>
              <a:t>margins and spacing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AE0F735-9D9F-4FA6-99DB-646F87914355}"/>
              </a:ext>
            </a:extLst>
          </p:cNvPr>
          <p:cNvCxnSpPr>
            <a:stCxn id="41" idx="0"/>
          </p:cNvCxnSpPr>
          <p:nvPr/>
        </p:nvCxnSpPr>
        <p:spPr>
          <a:xfrm flipV="1">
            <a:off x="-3394201" y="20409923"/>
            <a:ext cx="0" cy="156300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BDFAACF-6928-40C4-BB84-220C74F3573F}"/>
              </a:ext>
            </a:extLst>
          </p:cNvPr>
          <p:cNvSpPr txBox="1"/>
          <p:nvPr/>
        </p:nvSpPr>
        <p:spPr>
          <a:xfrm>
            <a:off x="-5425975" y="7602734"/>
            <a:ext cx="41848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Official MSU Colors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B550BBD-FA11-4490-971B-4D0FC02242B4}"/>
              </a:ext>
            </a:extLst>
          </p:cNvPr>
          <p:cNvSpPr/>
          <p:nvPr/>
        </p:nvSpPr>
        <p:spPr>
          <a:xfrm>
            <a:off x="33083298" y="23835175"/>
            <a:ext cx="1046104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References</a:t>
            </a:r>
            <a:endParaRPr lang="en-US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7967916-A03B-4665-A820-B99307A3D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95" y="2359258"/>
            <a:ext cx="7961512" cy="19587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7F03ED-EA25-D090-2EA7-AB5C4613A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4605" y="943272"/>
            <a:ext cx="3949700" cy="4622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13E927-B0F7-06AD-529E-6C22DCEA3C5B}"/>
              </a:ext>
            </a:extLst>
          </p:cNvPr>
          <p:cNvSpPr txBox="1"/>
          <p:nvPr/>
        </p:nvSpPr>
        <p:spPr>
          <a:xfrm>
            <a:off x="33095355" y="25196407"/>
            <a:ext cx="10440014" cy="7478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[1] “Forests and a future of drought: Area exposed to severe drought projected to triple by 2070 | US Forest Service Research and Development,” </a:t>
            </a:r>
            <a:r>
              <a:rPr lang="en-US" sz="2400" i="1" dirty="0"/>
              <a:t>US Forest Service Research and Development</a:t>
            </a:r>
            <a:r>
              <a:rPr lang="en-US" sz="2400" dirty="0"/>
              <a:t>, 2026. https://research.fs.usda.gov/srs/articles/forests-and-future-drought-area-exposed-severe-drought-projected-triple-2070 (accessed Sept. 03, 2026).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[2] “Researchers complete first comprehensive threat assessment of all U.S. trees,” </a:t>
            </a:r>
            <a:r>
              <a:rPr lang="en-US" sz="2400" i="1" dirty="0"/>
              <a:t>United States Botanic Garden</a:t>
            </a:r>
            <a:r>
              <a:rPr lang="en-US" sz="2400" dirty="0"/>
              <a:t>, Aug. 23, 2022. https://www.usbg.gov/blog/researchers-complete-first-comprehensive-threat-assessment-all-us-trees (accessed Sept. 08, 2026).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pPr>
              <a:defRPr/>
            </a:pPr>
            <a:r>
              <a:rPr lang="en-US" sz="2400" dirty="0">
                <a:solidFill>
                  <a:prstClr val="black"/>
                </a:solidFill>
                <a:ea typeface="+mn-lt"/>
                <a:cs typeface="+mn-lt"/>
              </a:rPr>
              <a:t>[3] M. Li, H. Li, X. Ding, L. Wang, X. Wang, and F. Chen, "The detection of pine wilt disease: A literature review," Int. J. Mol. Sci., vol. 23, no. 18, p. 10797, Sep. 2022, doi: 10.3390/ijms231810797.</a:t>
            </a:r>
            <a:endParaRPr lang="en-US" sz="2400" dirty="0">
              <a:solidFill>
                <a:prstClr val="black"/>
              </a:solidFill>
              <a:ea typeface="Calibri"/>
              <a:cs typeface="Calibri"/>
            </a:endParaRPr>
          </a:p>
          <a:p>
            <a:pPr>
              <a:defRPr/>
            </a:pPr>
            <a:endParaRPr lang="en-US" sz="2400" dirty="0">
              <a:ea typeface="Calibri"/>
              <a:cs typeface="Calibri"/>
            </a:endParaRPr>
          </a:p>
          <a:p>
            <a:pPr>
              <a:defRPr/>
            </a:pPr>
            <a:r>
              <a:rPr lang="en-US" sz="2400" dirty="0">
                <a:solidFill>
                  <a:prstClr val="black"/>
                </a:solidFill>
                <a:ea typeface="+mn-lt"/>
                <a:cs typeface="+mn-lt"/>
              </a:rPr>
              <a:t>[4] M. Li, H. Li, X. Ding, L. Wang, X. Wang, and F. Chen, "The detection of pine wilt disease: A literature review," Int. J. Mol. Sci., vol. 23, no. 18, Art. no. 10797, Sep. 2022, doi: 10.3390/ijms231810797. [Online]. Available: https://doi.org/10.3390/ijms231810797 (accessed Sept. 8, 2026).</a:t>
            </a:r>
            <a:endParaRPr lang="en-US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2400" dirty="0">
              <a:solidFill>
                <a:prstClr val="black"/>
              </a:solidFill>
              <a:ea typeface="Calibri"/>
              <a:cs typeface="Calibri"/>
            </a:endParaRPr>
          </a:p>
        </p:txBody>
      </p:sp>
      <p:pic>
        <p:nvPicPr>
          <p:cNvPr id="20" name="Picture 19" descr="Reliability &amp; Tree Trimming">
            <a:extLst>
              <a:ext uri="{FF2B5EF4-FFF2-40B4-BE49-F238E27FC236}">
                <a16:creationId xmlns:a16="http://schemas.microsoft.com/office/drawing/2014/main" id="{22D190BB-3E48-4F6B-B088-626CE4A27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4013" y="19376690"/>
            <a:ext cx="10381123" cy="4401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9B39C3-C9FF-DE4A-A7C2-D4F505797D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1487" y="7772400"/>
            <a:ext cx="21408413" cy="1668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0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B4D05BD3F26149845B3B9471E613D0" ma:contentTypeVersion="11" ma:contentTypeDescription="Create a new document." ma:contentTypeScope="" ma:versionID="0020edfde1fa6400ef3b58987107a0bc">
  <xsd:schema xmlns:xsd="http://www.w3.org/2001/XMLSchema" xmlns:xs="http://www.w3.org/2001/XMLSchema" xmlns:p="http://schemas.microsoft.com/office/2006/metadata/properties" xmlns:ns2="18818139-5856-4594-9446-0ade22aa1a41" xmlns:ns3="c6e2bc9a-fcee-4d67-819b-41f4937a952e" targetNamespace="http://schemas.microsoft.com/office/2006/metadata/properties" ma:root="true" ma:fieldsID="f48a320ff992805edc6cbcb9dfe2e117" ns2:_="" ns3:_="">
    <xsd:import namespace="18818139-5856-4594-9446-0ade22aa1a41"/>
    <xsd:import namespace="c6e2bc9a-fcee-4d67-819b-41f4937a95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818139-5856-4594-9446-0ade22aa1a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2011f1f-c1f6-43e5-98b2-4e6fd79a0b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e2bc9a-fcee-4d67-819b-41f4937a952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cdc711e-dcf6-4fda-89bf-9af02bbb261a}" ma:internalName="TaxCatchAll" ma:showField="CatchAllData" ma:web="c6e2bc9a-fcee-4d67-819b-41f4937a95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818139-5856-4594-9446-0ade22aa1a41">
      <Terms xmlns="http://schemas.microsoft.com/office/infopath/2007/PartnerControls"/>
    </lcf76f155ced4ddcb4097134ff3c332f>
    <TaxCatchAll xmlns="c6e2bc9a-fcee-4d67-819b-41f4937a952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F0E9F5-DFF9-4A4B-84B7-B33B5B6FD8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818139-5856-4594-9446-0ade22aa1a41"/>
    <ds:schemaRef ds:uri="c6e2bc9a-fcee-4d67-819b-41f4937a95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64975E3-2FA5-4E32-9185-F9D729715D6F}">
  <ds:schemaRefs>
    <ds:schemaRef ds:uri="18818139-5856-4594-9446-0ade22aa1a4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c6e2bc9a-fcee-4d67-819b-41f4937a952e"/>
  </ds:schemaRefs>
</ds:datastoreItem>
</file>

<file path=customXml/itemProps3.xml><?xml version="1.0" encoding="utf-8"?>
<ds:datastoreItem xmlns:ds="http://schemas.openxmlformats.org/officeDocument/2006/customXml" ds:itemID="{23AFC1F0-7EBC-4AD6-9106-29CA9D071F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553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 Foe, Thomas</dc:creator>
  <cp:lastModifiedBy>Joshua Mcgee</cp:lastModifiedBy>
  <cp:revision>25</cp:revision>
  <dcterms:created xsi:type="dcterms:W3CDTF">2022-02-15T17:05:15Z</dcterms:created>
  <dcterms:modified xsi:type="dcterms:W3CDTF">2026-10-12T04:17:11Z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0x010100BDB4D05BD3F26149845B3B9471E613D0</vt:lpwstr>
  </property>
  <property fmtid="{D5CDD505-2E9C-101B-9397-08002B2CF9AE}" pid="3" name="MediaServiceImageTags">
    <vt:lpwstr/>
  </property>
</Properties>
</file>