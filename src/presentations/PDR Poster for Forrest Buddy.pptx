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993E"/>
    <a:srgbClr val="EDB315"/>
    <a:srgbClr val="5D1725"/>
    <a:srgbClr val="C1C6C8"/>
    <a:srgbClr val="DAC79D"/>
    <a:srgbClr val="642F6C"/>
    <a:srgbClr val="007FA3"/>
    <a:srgbClr val="FFB81C"/>
    <a:srgbClr val="A94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04" vWet="606" dt="2026-09-08T23:25:58.082"/>
    <p1510:client id="{1976AF8F-77F5-933E-2B1A-1500015A24AC}" v="7" dt="2026-09-08T22:59:29.915"/>
    <p1510:client id="{23514122-C667-36C7-303F-C10CA57DFF3A}" v="8" dt="2026-09-08T20:32:11.297"/>
    <p1510:client id="{36178BEA-5297-5F05-6CE8-8CF337D6CA63}" v="49" dt="2026-09-08T23:12:41.307"/>
    <p1510:client id="{667010FA-E659-1F52-CA02-7244109FA590}" v="5024" dt="2026-09-08T22:50:49.454"/>
    <p1510:client id="{67E7B20E-AB4B-31DB-524C-2C07115213ED}" v="10" dt="2026-09-08T22:03:41.040"/>
    <p1510:client id="{6D543E9B-E476-092C-A8CC-E1D620A1A4B9}" v="381" dt="2026-09-08T22:55:09.958"/>
    <p1510:client id="{801CF5B2-09AC-5E90-1B53-0E6D47D5A136}" v="443" dt="2026-09-08T23:19:01.820"/>
    <p1510:client id="{96335C9F-46C5-4A45-A99E-AB082AE653BA}" v="834" dt="2026-09-08T23:19:37.470"/>
    <p1510:client id="{CF4ED69E-A1BE-A13C-8FBD-2B95A632CBD0}" v="811" dt="2026-09-08T21:14:33.453"/>
    <p1510:client id="{F3C035F6-5BF2-E1C5-F730-539ECC4E7C54}" v="137" dt="2026-09-08T21:38:28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E107B-3107-4A92-B3B1-CBE303D50A4E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0888B-65E8-44FA-8CFE-749D1D9E9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0888B-65E8-44FA-8CFE-749D1D9E93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53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6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8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6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3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7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6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3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1481D-26F5-45D5-AB7A-8473E4BD8352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292E4-A6DA-4F86-8F30-200338560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F740C0E-EE73-4713-B1D9-2F35CED42A7E}"/>
              </a:ext>
            </a:extLst>
          </p:cNvPr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8C70C5-1577-4C82-B0CD-CD674027D38B}"/>
              </a:ext>
            </a:extLst>
          </p:cNvPr>
          <p:cNvSpPr/>
          <p:nvPr/>
        </p:nvSpPr>
        <p:spPr>
          <a:xfrm>
            <a:off x="457200" y="501444"/>
            <a:ext cx="42976800" cy="5486400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 anchorCtr="0"/>
          <a:lstStyle/>
          <a:p>
            <a:pPr algn="ctr">
              <a:spcAft>
                <a:spcPts val="600"/>
              </a:spcAft>
            </a:pPr>
            <a:r>
              <a:rPr lang="en-US" sz="8000" b="1">
                <a:latin typeface="Arial"/>
                <a:cs typeface="Arial"/>
              </a:rPr>
              <a:t>Forest Buddy</a:t>
            </a:r>
            <a:endParaRPr lang="en-US" sz="8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400" b="1">
                <a:latin typeface="Arial"/>
                <a:cs typeface="Arial"/>
              </a:rPr>
              <a:t>John Allen (Project Manager), Joshua McGee (Chief Scientist),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4400" b="1">
                <a:latin typeface="Arial"/>
                <a:cs typeface="Arial"/>
              </a:rPr>
              <a:t>Landon Garrett (CPE), Gerardo Hernandez (EE), Alten Reeves (EE), Lane Williams (EE)</a:t>
            </a:r>
            <a:endParaRPr lang="en-US">
              <a:ea typeface="Calibri"/>
              <a:cs typeface="Calibri"/>
            </a:endParaRPr>
          </a:p>
          <a:p>
            <a:pPr algn="ctr">
              <a:spcBef>
                <a:spcPts val="2400"/>
              </a:spcBef>
              <a:spcAft>
                <a:spcPts val="1200"/>
              </a:spcAft>
            </a:pP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Department of Electrical and Computer Engineering</a:t>
            </a:r>
          </a:p>
          <a:p>
            <a:pPr algn="ctr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Mississippi State University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8642F-9FB3-41C7-A31D-1100897A1E06}"/>
              </a:ext>
            </a:extLst>
          </p:cNvPr>
          <p:cNvSpPr/>
          <p:nvPr/>
        </p:nvSpPr>
        <p:spPr>
          <a:xfrm>
            <a:off x="504391" y="7602734"/>
            <a:ext cx="10928743" cy="248451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1177FB-132F-41AE-B3CC-479142CC59C6}"/>
              </a:ext>
            </a:extLst>
          </p:cNvPr>
          <p:cNvSpPr/>
          <p:nvPr/>
        </p:nvSpPr>
        <p:spPr>
          <a:xfrm>
            <a:off x="12146389" y="7693851"/>
            <a:ext cx="20242223" cy="24814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00E16-ACDD-427E-8A7A-A9584FB281DE}"/>
              </a:ext>
            </a:extLst>
          </p:cNvPr>
          <p:cNvSpPr/>
          <p:nvPr/>
        </p:nvSpPr>
        <p:spPr>
          <a:xfrm>
            <a:off x="33083299" y="6387487"/>
            <a:ext cx="10405872" cy="26060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D9AB3E-185C-4461-BE1E-468E813EF4B5}"/>
              </a:ext>
            </a:extLst>
          </p:cNvPr>
          <p:cNvSpPr/>
          <p:nvPr/>
        </p:nvSpPr>
        <p:spPr>
          <a:xfrm>
            <a:off x="457199" y="6356556"/>
            <a:ext cx="10994503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Problem and Target User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43A7E-217C-46F1-80A5-47AB1696F560}"/>
              </a:ext>
            </a:extLst>
          </p:cNvPr>
          <p:cNvSpPr/>
          <p:nvPr/>
        </p:nvSpPr>
        <p:spPr>
          <a:xfrm>
            <a:off x="457198" y="23645097"/>
            <a:ext cx="10961648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Competitive Advantages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D665A7-0D16-47C6-A4FF-691A06789E7A}"/>
              </a:ext>
            </a:extLst>
          </p:cNvPr>
          <p:cNvSpPr/>
          <p:nvPr/>
        </p:nvSpPr>
        <p:spPr>
          <a:xfrm>
            <a:off x="504391" y="14593293"/>
            <a:ext cx="1098524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Previous Solutions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07A1FE-923E-4210-8AFB-5C7561C91831}"/>
              </a:ext>
            </a:extLst>
          </p:cNvPr>
          <p:cNvSpPr/>
          <p:nvPr/>
        </p:nvSpPr>
        <p:spPr>
          <a:xfrm>
            <a:off x="33101868" y="6356556"/>
            <a:ext cx="10387303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>
                <a:latin typeface="Arial" panose="020B0604020202020204" pitchFamily="34" charset="0"/>
                <a:cs typeface="Arial" panose="020B0604020202020204" pitchFamily="34" charset="0"/>
              </a:rPr>
              <a:t>Broader Impact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51C77F-10BB-4E6A-9909-9126F97FBC15}"/>
              </a:ext>
            </a:extLst>
          </p:cNvPr>
          <p:cNvSpPr/>
          <p:nvPr/>
        </p:nvSpPr>
        <p:spPr>
          <a:xfrm>
            <a:off x="12137104" y="6322251"/>
            <a:ext cx="2026079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Solution</a:t>
            </a:r>
            <a:endParaRPr lang="en-US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D8B69-B6A6-459B-A5AF-3134828AF626}"/>
              </a:ext>
            </a:extLst>
          </p:cNvPr>
          <p:cNvSpPr txBox="1"/>
          <p:nvPr/>
        </p:nvSpPr>
        <p:spPr>
          <a:xfrm>
            <a:off x="711665" y="7956121"/>
            <a:ext cx="10298779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8F993E"/>
                </a:solidFill>
                <a:latin typeface="Arial"/>
                <a:ea typeface="Calibri"/>
                <a:cs typeface="Arial"/>
              </a:rPr>
              <a:t>Many forests in the United States are at risk from Drought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600">
                <a:latin typeface="Arial"/>
                <a:ea typeface="Calibri"/>
                <a:cs typeface="Arial"/>
              </a:rPr>
              <a:t>Nearly 11% of forestry is exposed to drought, expected to rise to 38% by mid-century [1].</a:t>
            </a:r>
            <a:r>
              <a:rPr lang="en-US" sz="2800">
                <a:latin typeface="Arial"/>
                <a:ea typeface="Calibri"/>
                <a:cs typeface="Arial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8BA15B-A88E-4301-B2D7-492553D34EDB}"/>
              </a:ext>
            </a:extLst>
          </p:cNvPr>
          <p:cNvSpPr txBox="1"/>
          <p:nvPr/>
        </p:nvSpPr>
        <p:spPr>
          <a:xfrm>
            <a:off x="681865" y="16296993"/>
            <a:ext cx="10544549" cy="76636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/>
              <a:buChar char="•"/>
            </a:pPr>
            <a:r>
              <a:rPr lang="en-US" sz="4400" dirty="0">
                <a:solidFill>
                  <a:srgbClr val="8F993E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Leaf Link</a:t>
            </a:r>
            <a:endParaRPr lang="en-US" sz="4400" dirty="0">
              <a:ea typeface="Calibri"/>
              <a:cs typeface="Calibri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Used a pulley system.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Extremely limited mobility.</a:t>
            </a:r>
            <a:endParaRPr lang="en-US">
              <a:ea typeface="Calibri"/>
              <a:cs typeface="Calibri"/>
            </a:endParaRPr>
          </a:p>
          <a:p>
            <a:pPr marL="571500" indent="-571500" algn="just">
              <a:buFont typeface="Arial"/>
              <a:buChar char="•"/>
            </a:pPr>
            <a:endParaRPr lang="en-US" sz="3600"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400" dirty="0">
                <a:solidFill>
                  <a:srgbClr val="8F993E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Manual inspection</a:t>
            </a:r>
          </a:p>
          <a:p>
            <a:pPr marL="1028700" lvl="1" indent="-571500" algn="just">
              <a:buFont typeface="Arial"/>
              <a:buChar char="•"/>
            </a:pPr>
            <a:r>
              <a:rPr lang="en-US" sz="3600">
                <a:highlight>
                  <a:srgbClr val="FFFFFF"/>
                </a:highlight>
                <a:latin typeface="Arial"/>
                <a:ea typeface="Calibri"/>
                <a:cs typeface="Arial"/>
              </a:rPr>
              <a:t>Economical, but impractical for inspecting </a:t>
            </a:r>
            <a:r>
              <a:rPr lang="en-US" sz="36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large </a:t>
            </a:r>
            <a:r>
              <a:rPr lang="en-US" sz="3600">
                <a:highlight>
                  <a:srgbClr val="FFFFFF"/>
                </a:highlight>
                <a:latin typeface="Arial"/>
                <a:ea typeface="Calibri"/>
                <a:cs typeface="Arial"/>
              </a:rPr>
              <a:t>areas</a:t>
            </a:r>
            <a:r>
              <a:rPr lang="en-US" sz="36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, and often too late to detect </a:t>
            </a:r>
            <a:r>
              <a:rPr lang="en-US" sz="3600">
                <a:highlight>
                  <a:srgbClr val="FFFFFF"/>
                </a:highlight>
                <a:latin typeface="Arial"/>
                <a:ea typeface="Calibri"/>
                <a:cs typeface="Arial"/>
              </a:rPr>
              <a:t>diseases</a:t>
            </a:r>
            <a:r>
              <a:rPr lang="en-US" sz="36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 [3][4].</a:t>
            </a:r>
            <a:endParaRPr lang="en-US">
              <a:ea typeface="Calibri"/>
              <a:cs typeface="Calibri"/>
            </a:endParaRPr>
          </a:p>
          <a:p>
            <a:pPr marL="1028700" lvl="1" indent="-571500" algn="just">
              <a:buFont typeface="Arial"/>
              <a:buChar char="•"/>
            </a:pPr>
            <a:endParaRPr lang="en-US" sz="3600">
              <a:solidFill>
                <a:srgbClr val="000000"/>
              </a:solidFill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4400" dirty="0">
                <a:solidFill>
                  <a:srgbClr val="8F993E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Lab testing</a:t>
            </a:r>
          </a:p>
          <a:p>
            <a:pPr marL="1028700" lvl="1" indent="-571500" algn="just">
              <a:buFont typeface="Arial"/>
              <a:buChar char="•"/>
            </a:pPr>
            <a:r>
              <a:rPr lang="en-US" sz="3600">
                <a:highlight>
                  <a:srgbClr val="FFFFFF"/>
                </a:highlight>
                <a:latin typeface="Arial"/>
                <a:ea typeface="Calibri"/>
                <a:cs typeface="Arial"/>
              </a:rPr>
              <a:t>Fast</a:t>
            </a:r>
            <a:r>
              <a:rPr lang="en-US" sz="3600" dirty="0">
                <a:highlight>
                  <a:srgbClr val="FFFFFF"/>
                </a:highlight>
                <a:latin typeface="Arial"/>
                <a:ea typeface="Calibri"/>
                <a:cs typeface="Arial"/>
              </a:rPr>
              <a:t> and effective, but requires the tree to be cut, which harms the tree [3][4].</a:t>
            </a:r>
            <a:endParaRPr lang="en-US" sz="3600">
              <a:highlight>
                <a:srgbClr val="FFFFFF"/>
              </a:highlight>
              <a:latin typeface="Arial"/>
              <a:ea typeface="Calibri"/>
              <a:cs typeface="Arial"/>
            </a:endParaRPr>
          </a:p>
          <a:p>
            <a:pPr algn="just"/>
            <a:endParaRPr lang="en-US" sz="3600">
              <a:highlight>
                <a:srgbClr val="FFFFFF"/>
              </a:highlight>
              <a:latin typeface="Arial"/>
              <a:ea typeface="Calibri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31BEBF-EAAA-4BAD-939F-1D3F1E3AEB78}"/>
              </a:ext>
            </a:extLst>
          </p:cNvPr>
          <p:cNvSpPr txBox="1"/>
          <p:nvPr/>
        </p:nvSpPr>
        <p:spPr>
          <a:xfrm>
            <a:off x="737418" y="25385409"/>
            <a:ext cx="9851923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Catches disease earlier than manual methods.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More time efficient.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Inexpensive.</a:t>
            </a:r>
          </a:p>
          <a:p>
            <a:pPr marL="1028700" lvl="1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 ≤ $1000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Data collection is non-destructive.</a:t>
            </a:r>
          </a:p>
          <a:p>
            <a:pPr marL="571500" indent="-571500">
              <a:buFont typeface="Arial"/>
              <a:buChar char="•"/>
            </a:pPr>
            <a:r>
              <a:rPr lang="en-US" sz="4400">
                <a:latin typeface="Arial"/>
                <a:ea typeface="Calibri"/>
                <a:cs typeface="Arial"/>
              </a:rPr>
              <a:t>Scalable.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270B09-4A63-4196-BEFB-7418E0886DF9}"/>
              </a:ext>
            </a:extLst>
          </p:cNvPr>
          <p:cNvSpPr txBox="1"/>
          <p:nvPr/>
        </p:nvSpPr>
        <p:spPr>
          <a:xfrm>
            <a:off x="33402134" y="8237542"/>
            <a:ext cx="9864571" cy="119109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3200" b="1">
                <a:solidFill>
                  <a:srgbClr val="8F993E"/>
                </a:solidFill>
                <a:latin typeface="Arial"/>
                <a:ea typeface="Calibri"/>
                <a:cs typeface="Arial"/>
              </a:rPr>
              <a:t>Benefits for target user</a:t>
            </a:r>
            <a:endParaRPr lang="en-US" sz="3200" b="1">
              <a:solidFill>
                <a:srgbClr val="8F993E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200" dirty="0">
                <a:latin typeface="Arial"/>
                <a:ea typeface="Calibri"/>
                <a:cs typeface="Arial"/>
              </a:rPr>
              <a:t>Forestry agencies and land managers benefit as the Forest </a:t>
            </a:r>
            <a:r>
              <a:rPr lang="en-US" sz="3200">
                <a:latin typeface="Arial"/>
                <a:ea typeface="Calibri"/>
                <a:cs typeface="Arial"/>
              </a:rPr>
              <a:t>Buddy</a:t>
            </a:r>
            <a:r>
              <a:rPr lang="en-US" sz="3200" dirty="0">
                <a:latin typeface="Arial"/>
                <a:ea typeface="Calibri"/>
                <a:cs typeface="Arial"/>
              </a:rPr>
              <a:t> cuts labor and time costs of inspecting large quantity of trees.</a:t>
            </a:r>
            <a:endParaRPr lang="en-US" sz="32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200" dirty="0">
                <a:latin typeface="Arial"/>
                <a:ea typeface="Calibri"/>
                <a:cs typeface="Arial"/>
              </a:rPr>
              <a:t>Non destructive</a:t>
            </a:r>
            <a:r>
              <a:rPr lang="en-US" sz="3200" b="1">
                <a:latin typeface="Arial"/>
                <a:ea typeface="Calibri"/>
                <a:cs typeface="Arial"/>
              </a:rPr>
              <a:t>:</a:t>
            </a:r>
            <a:r>
              <a:rPr lang="en-US" sz="3200" dirty="0">
                <a:latin typeface="Arial"/>
                <a:ea typeface="Calibri"/>
                <a:cs typeface="Arial"/>
              </a:rPr>
              <a:t> requires </a:t>
            </a:r>
            <a:r>
              <a:rPr lang="en-US" sz="3200">
                <a:latin typeface="Arial"/>
                <a:ea typeface="Calibri"/>
                <a:cs typeface="Arial"/>
              </a:rPr>
              <a:t>no</a:t>
            </a:r>
            <a:r>
              <a:rPr lang="en-US" sz="3200" dirty="0">
                <a:latin typeface="Arial"/>
                <a:ea typeface="Calibri"/>
                <a:cs typeface="Arial"/>
              </a:rPr>
              <a:t> </a:t>
            </a:r>
            <a:r>
              <a:rPr lang="en-US" sz="3200">
                <a:latin typeface="Arial"/>
                <a:ea typeface="Calibri"/>
                <a:cs typeface="Arial"/>
              </a:rPr>
              <a:t>trees </a:t>
            </a:r>
            <a:r>
              <a:rPr lang="en-US" sz="3200" dirty="0">
                <a:latin typeface="Arial"/>
                <a:ea typeface="Calibri"/>
                <a:cs typeface="Arial"/>
              </a:rPr>
              <a:t>to be harmed.</a:t>
            </a:r>
            <a:endParaRPr lang="en-US" sz="32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200" dirty="0">
                <a:latin typeface="Arial"/>
                <a:ea typeface="Calibri"/>
                <a:cs typeface="Arial"/>
              </a:rPr>
              <a:t>The sensing will catch disease early enough to prevent death of trees.</a:t>
            </a:r>
            <a:endParaRPr lang="en-US" sz="3200">
              <a:latin typeface="Arial"/>
              <a:ea typeface="Calibri" panose="020F0502020204030204" pitchFamily="34" charset="0"/>
              <a:cs typeface="Arial"/>
            </a:endParaRPr>
          </a:p>
          <a:p>
            <a:pPr algn="just"/>
            <a:r>
              <a:rPr lang="en-US" sz="3200" b="1">
                <a:solidFill>
                  <a:srgbClr val="8F993E"/>
                </a:solidFill>
                <a:latin typeface="Arial"/>
                <a:ea typeface="Calibri"/>
                <a:cs typeface="Arial"/>
              </a:rPr>
              <a:t>Potential impacts in other fields</a:t>
            </a:r>
            <a:endParaRPr lang="en-US" sz="3200" b="1">
              <a:solidFill>
                <a:srgbClr val="8F993E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200" dirty="0">
                <a:latin typeface="Arial"/>
                <a:ea typeface="Calibri"/>
                <a:cs typeface="Arial"/>
              </a:rPr>
              <a:t>The </a:t>
            </a:r>
            <a:r>
              <a:rPr lang="en-US" sz="3200">
                <a:latin typeface="Arial"/>
                <a:ea typeface="Calibri"/>
                <a:cs typeface="Arial"/>
              </a:rPr>
              <a:t>Forest</a:t>
            </a:r>
            <a:r>
              <a:rPr lang="en-US" sz="3200" dirty="0">
                <a:latin typeface="Arial"/>
                <a:ea typeface="Calibri"/>
                <a:cs typeface="Arial"/>
              </a:rPr>
              <a:t> </a:t>
            </a:r>
            <a:r>
              <a:rPr lang="en-US" sz="3200">
                <a:latin typeface="Arial"/>
                <a:ea typeface="Calibri"/>
                <a:cs typeface="Arial"/>
              </a:rPr>
              <a:t>Buddy</a:t>
            </a:r>
            <a:r>
              <a:rPr lang="en-US" sz="3200" dirty="0">
                <a:latin typeface="Arial"/>
                <a:ea typeface="Calibri"/>
                <a:cs typeface="Arial"/>
              </a:rPr>
              <a:t> could help the power industry </a:t>
            </a:r>
            <a:r>
              <a:rPr lang="en-US" sz="3200">
                <a:latin typeface="Arial"/>
                <a:ea typeface="Calibri"/>
                <a:cs typeface="Arial"/>
              </a:rPr>
              <a:t>by</a:t>
            </a:r>
            <a:r>
              <a:rPr lang="en-US" sz="3200" dirty="0">
                <a:latin typeface="Arial"/>
                <a:ea typeface="Calibri"/>
                <a:cs typeface="Arial"/>
              </a:rPr>
              <a:t> </a:t>
            </a:r>
            <a:r>
              <a:rPr lang="en-US" sz="3200">
                <a:latin typeface="Arial"/>
                <a:ea typeface="Calibri"/>
                <a:cs typeface="Arial"/>
              </a:rPr>
              <a:t>detect</a:t>
            </a:r>
            <a:r>
              <a:rPr lang="en-US" sz="3200" dirty="0">
                <a:latin typeface="Arial"/>
                <a:ea typeface="Calibri"/>
                <a:cs typeface="Arial"/>
              </a:rPr>
              <a:t> weak or dying trees near powerlines.</a:t>
            </a:r>
            <a:endParaRPr lang="en-US" sz="32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200" dirty="0">
                <a:latin typeface="Arial"/>
                <a:ea typeface="Calibri"/>
                <a:cs typeface="Arial"/>
              </a:rPr>
              <a:t>It could also help with fighting wildfires as canopy moisture data could be used for regional fire risk models.</a:t>
            </a:r>
            <a:endParaRPr lang="en-US" sz="3200">
              <a:latin typeface="Arial"/>
              <a:ea typeface="Calibri" panose="020F0502020204030204" pitchFamily="34" charset="0"/>
              <a:cs typeface="Arial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200" dirty="0">
                <a:latin typeface="Arial"/>
                <a:ea typeface="Calibri"/>
                <a:cs typeface="Arial"/>
              </a:rPr>
              <a:t>In addition, it could be used in agriculture </a:t>
            </a:r>
            <a:r>
              <a:rPr lang="en-US" sz="3200">
                <a:latin typeface="Arial"/>
                <a:ea typeface="Calibri"/>
                <a:cs typeface="Arial"/>
              </a:rPr>
              <a:t>in irrigation systems as</a:t>
            </a:r>
            <a:r>
              <a:rPr lang="en-US" sz="3200" dirty="0">
                <a:latin typeface="Arial"/>
                <a:ea typeface="Calibri"/>
                <a:cs typeface="Arial"/>
              </a:rPr>
              <a:t> the moisture data feeding can help with irrigation stress detection.</a:t>
            </a:r>
            <a:endParaRPr lang="en-US" sz="3200">
              <a:latin typeface="Arial"/>
              <a:ea typeface="Calibri" panose="020F0502020204030204" pitchFamily="34" charset="0"/>
              <a:cs typeface="Arial"/>
            </a:endParaRPr>
          </a:p>
          <a:p>
            <a:pPr algn="just"/>
            <a:r>
              <a:rPr lang="en-US" sz="3200" b="1">
                <a:solidFill>
                  <a:srgbClr val="8F993E"/>
                </a:solidFill>
                <a:latin typeface="Arial"/>
                <a:ea typeface="Calibri"/>
                <a:cs typeface="Arial"/>
              </a:rPr>
              <a:t>Unlikely Byproducts</a:t>
            </a:r>
            <a:endParaRPr lang="en-US" sz="3200" b="1">
              <a:solidFill>
                <a:srgbClr val="8F993E"/>
              </a:solidFill>
              <a:latin typeface="Arial"/>
              <a:ea typeface="Calibri" panose="020F0502020204030204" pitchFamily="34" charset="0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3200" dirty="0">
                <a:latin typeface="Arial"/>
                <a:ea typeface="Calibri"/>
                <a:cs typeface="Arial"/>
              </a:rPr>
              <a:t>The robot's sensing and mobility chassis could be used to collect data of trees after a natural disaster</a:t>
            </a:r>
            <a:r>
              <a:rPr lang="en-US" sz="3200">
                <a:latin typeface="Arial"/>
                <a:ea typeface="Calibri"/>
                <a:cs typeface="Arial"/>
              </a:rPr>
              <a:t> showing standing tree population and fallen trees aiding</a:t>
            </a:r>
            <a:r>
              <a:rPr lang="en-US" sz="3200" dirty="0">
                <a:latin typeface="Arial"/>
                <a:ea typeface="Calibri"/>
                <a:cs typeface="Arial"/>
              </a:rPr>
              <a:t> </a:t>
            </a:r>
            <a:r>
              <a:rPr lang="en-US" sz="3200">
                <a:latin typeface="Arial"/>
                <a:ea typeface="Calibri"/>
                <a:cs typeface="Arial"/>
              </a:rPr>
              <a:t>clean</a:t>
            </a:r>
            <a:r>
              <a:rPr lang="en-US" sz="3200" dirty="0">
                <a:latin typeface="Arial"/>
                <a:ea typeface="Calibri"/>
                <a:cs typeface="Arial"/>
              </a:rPr>
              <a:t> up.</a:t>
            </a:r>
            <a:endParaRPr lang="en-US" sz="3200">
              <a:latin typeface="Arial"/>
              <a:ea typeface="Calibri"/>
              <a:cs typeface="Arial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3200" dirty="0">
                <a:latin typeface="Arial"/>
                <a:ea typeface="Calibri"/>
                <a:cs typeface="Arial"/>
              </a:rPr>
              <a:t>The sensing and mobility chassis can also be changed to get data of soil moisture and invasive plant species.</a:t>
            </a:r>
            <a:endParaRPr lang="en-US" sz="3200">
              <a:latin typeface="Arial"/>
              <a:ea typeface="Calibri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E7138-C78E-4502-B798-9AC7774DCFBC}"/>
              </a:ext>
            </a:extLst>
          </p:cNvPr>
          <p:cNvSpPr/>
          <p:nvPr/>
        </p:nvSpPr>
        <p:spPr>
          <a:xfrm>
            <a:off x="-3887336" y="8531143"/>
            <a:ext cx="997527" cy="997527"/>
          </a:xfrm>
          <a:prstGeom prst="rect">
            <a:avLst/>
          </a:prstGeom>
          <a:solidFill>
            <a:srgbClr val="A94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3757F6-3E82-4CCF-BB8A-66790A1B1CD7}"/>
              </a:ext>
            </a:extLst>
          </p:cNvPr>
          <p:cNvSpPr/>
          <p:nvPr/>
        </p:nvSpPr>
        <p:spPr>
          <a:xfrm>
            <a:off x="-3887335" y="9895669"/>
            <a:ext cx="997527" cy="997527"/>
          </a:xfrm>
          <a:prstGeom prst="rect">
            <a:avLst/>
          </a:prstGeom>
          <a:solidFill>
            <a:srgbClr val="EDB3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2D7C8E-9880-4351-BCF6-A5B14EA3994D}"/>
              </a:ext>
            </a:extLst>
          </p:cNvPr>
          <p:cNvSpPr/>
          <p:nvPr/>
        </p:nvSpPr>
        <p:spPr>
          <a:xfrm>
            <a:off x="-3887336" y="11197996"/>
            <a:ext cx="997527" cy="997527"/>
          </a:xfrm>
          <a:prstGeom prst="rect">
            <a:avLst/>
          </a:prstGeom>
          <a:solidFill>
            <a:srgbClr val="007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2670F8-5824-42C5-A406-50D45EB83023}"/>
              </a:ext>
            </a:extLst>
          </p:cNvPr>
          <p:cNvSpPr/>
          <p:nvPr/>
        </p:nvSpPr>
        <p:spPr>
          <a:xfrm>
            <a:off x="-3887336" y="12500323"/>
            <a:ext cx="997527" cy="997527"/>
          </a:xfrm>
          <a:prstGeom prst="rect">
            <a:avLst/>
          </a:prstGeom>
          <a:solidFill>
            <a:srgbClr val="8F9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F993E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897A04-87B4-45CC-9A0F-AF4863B6C551}"/>
              </a:ext>
            </a:extLst>
          </p:cNvPr>
          <p:cNvSpPr/>
          <p:nvPr/>
        </p:nvSpPr>
        <p:spPr>
          <a:xfrm>
            <a:off x="-3887336" y="13802650"/>
            <a:ext cx="997527" cy="997527"/>
          </a:xfrm>
          <a:prstGeom prst="rect">
            <a:avLst/>
          </a:prstGeom>
          <a:solidFill>
            <a:srgbClr val="642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C7CA4C-B35C-469C-88E2-A811BE72E3B2}"/>
              </a:ext>
            </a:extLst>
          </p:cNvPr>
          <p:cNvSpPr/>
          <p:nvPr/>
        </p:nvSpPr>
        <p:spPr>
          <a:xfrm>
            <a:off x="-3887336" y="15102296"/>
            <a:ext cx="997527" cy="997527"/>
          </a:xfrm>
          <a:prstGeom prst="rect">
            <a:avLst/>
          </a:prstGeom>
          <a:solidFill>
            <a:srgbClr val="DAC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084BDE-29BF-48AC-A86E-CE4693095E93}"/>
              </a:ext>
            </a:extLst>
          </p:cNvPr>
          <p:cNvSpPr/>
          <p:nvPr/>
        </p:nvSpPr>
        <p:spPr>
          <a:xfrm>
            <a:off x="-3887336" y="16401942"/>
            <a:ext cx="997527" cy="997527"/>
          </a:xfrm>
          <a:prstGeom prst="rect">
            <a:avLst/>
          </a:prstGeom>
          <a:solidFill>
            <a:srgbClr val="C1C6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105100-39BA-4AA8-BA9E-463262EB857A}"/>
              </a:ext>
            </a:extLst>
          </p:cNvPr>
          <p:cNvSpPr/>
          <p:nvPr/>
        </p:nvSpPr>
        <p:spPr>
          <a:xfrm>
            <a:off x="-3887336" y="17701588"/>
            <a:ext cx="997527" cy="997527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1C5109-18A0-4AD4-A094-AA710452CAD1}"/>
              </a:ext>
            </a:extLst>
          </p:cNvPr>
          <p:cNvSpPr/>
          <p:nvPr/>
        </p:nvSpPr>
        <p:spPr>
          <a:xfrm>
            <a:off x="-3622801" y="1964076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9D3E32-1FDE-4F47-9F5B-472D0774F6C2}"/>
              </a:ext>
            </a:extLst>
          </p:cNvPr>
          <p:cNvSpPr txBox="1"/>
          <p:nvPr/>
        </p:nvSpPr>
        <p:spPr>
          <a:xfrm>
            <a:off x="-5982570" y="21972926"/>
            <a:ext cx="51767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0.5” Square that can be </a:t>
            </a:r>
            <a:br>
              <a:rPr lang="en-US" sz="4000"/>
            </a:br>
            <a:r>
              <a:rPr lang="en-US" sz="4000"/>
              <a:t>used for measuring </a:t>
            </a:r>
            <a:br>
              <a:rPr lang="en-US" sz="4000"/>
            </a:br>
            <a:r>
              <a:rPr lang="en-US" sz="4000"/>
              <a:t>margins and spacing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AE0F735-9D9F-4FA6-99DB-646F87914355}"/>
              </a:ext>
            </a:extLst>
          </p:cNvPr>
          <p:cNvCxnSpPr>
            <a:stCxn id="41" idx="0"/>
          </p:cNvCxnSpPr>
          <p:nvPr/>
        </p:nvCxnSpPr>
        <p:spPr>
          <a:xfrm flipV="1">
            <a:off x="-3394201" y="20409923"/>
            <a:ext cx="0" cy="156300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BDFAACF-6928-40C4-BB84-220C74F3573F}"/>
              </a:ext>
            </a:extLst>
          </p:cNvPr>
          <p:cNvSpPr txBox="1"/>
          <p:nvPr/>
        </p:nvSpPr>
        <p:spPr>
          <a:xfrm>
            <a:off x="-5425975" y="7602734"/>
            <a:ext cx="41848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Official MSU Colors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F5D805-2863-4418-B9FB-46D2D3BA04EF}"/>
              </a:ext>
            </a:extLst>
          </p:cNvPr>
          <p:cNvSpPr/>
          <p:nvPr/>
        </p:nvSpPr>
        <p:spPr>
          <a:xfrm>
            <a:off x="12137105" y="17195900"/>
            <a:ext cx="2024222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System Diagram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B550BBD-FA11-4490-971B-4D0FC02242B4}"/>
              </a:ext>
            </a:extLst>
          </p:cNvPr>
          <p:cNvSpPr/>
          <p:nvPr/>
        </p:nvSpPr>
        <p:spPr>
          <a:xfrm>
            <a:off x="33083298" y="23835175"/>
            <a:ext cx="10461044" cy="1371600"/>
          </a:xfrm>
          <a:prstGeom prst="rect">
            <a:avLst/>
          </a:prstGeom>
          <a:solidFill>
            <a:srgbClr val="5D17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 b="1">
                <a:latin typeface="Arial"/>
                <a:cs typeface="Arial"/>
              </a:rPr>
              <a:t>References</a:t>
            </a:r>
            <a:endParaRPr lang="en-US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7967916-A03B-4665-A820-B99307A3D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95" y="2359258"/>
            <a:ext cx="7961512" cy="19587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7F03ED-EA25-D090-2EA7-AB5C4613A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4605" y="943272"/>
            <a:ext cx="3949700" cy="4622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B040E3-1002-81E9-F1F8-C527F7F86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205" y="7622668"/>
            <a:ext cx="18903174" cy="97244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63923C-736A-8637-9B7A-A3E47B9EC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9707" y="18588880"/>
            <a:ext cx="20162629" cy="13835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13E927-B0F7-06AD-529E-6C22DCEA3C5B}"/>
              </a:ext>
            </a:extLst>
          </p:cNvPr>
          <p:cNvSpPr txBox="1"/>
          <p:nvPr/>
        </p:nvSpPr>
        <p:spPr>
          <a:xfrm>
            <a:off x="33271490" y="25392814"/>
            <a:ext cx="9072264" cy="71096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/>
              <a:t>[1] “Forests and a future of drought: Area exposed to severe drought projected to triple by 2070 | US Forest Service Research and Development,” </a:t>
            </a:r>
            <a:r>
              <a:rPr lang="en-US" sz="2400" i="1"/>
              <a:t>US Forest Service Research and Development</a:t>
            </a:r>
            <a:r>
              <a:rPr lang="en-US" sz="2400"/>
              <a:t>, 2026. https://research.fs.usda.gov/srs/articles/forests-and-future-drought-area-exposed-severe-drought-projected-triple-2070 (accessed Sept. 03, 2026).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r>
              <a:rPr lang="en-US" sz="2400"/>
              <a:t>[2] “Researchers complete first comprehensive threat assessment of all U.S. trees,” </a:t>
            </a:r>
            <a:r>
              <a:rPr lang="en-US" sz="2400" i="1"/>
              <a:t>United States Botanic Garden</a:t>
            </a:r>
            <a:r>
              <a:rPr lang="en-US" sz="2400"/>
              <a:t>, Aug. 23, 2022. https://www.usbg.gov/blog/researchers-complete-first-comprehensive-threat-assessment-all-us-trees (accessed Sept. 08, 2026).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pPr>
              <a:defRPr/>
            </a:pP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[3] M. Li, H. Li, X. Ding, L. Wang, X. Wang, and F. Chen, "The detection of pine wilt disease: A literature review," Int. J. Mol. Sci., vol. 23, no. 18, p. 10797, Sep. 2022,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doi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: 10.3390/ijms231810797.</a:t>
            </a:r>
            <a:endParaRPr lang="en-US" sz="2400">
              <a:solidFill>
                <a:prstClr val="black"/>
              </a:solidFill>
              <a:ea typeface="Calibri"/>
              <a:cs typeface="Calibri"/>
            </a:endParaRPr>
          </a:p>
          <a:p>
            <a:pPr>
              <a:defRPr/>
            </a:pPr>
            <a:endParaRPr lang="en-US" sz="2400">
              <a:ea typeface="Calibri"/>
              <a:cs typeface="Calibri"/>
            </a:endParaRPr>
          </a:p>
          <a:p>
            <a:pPr>
              <a:defRPr/>
            </a:pP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[4] S. Tahir, S. S. Hassan, L. Yang, M. Ma, and C. Li, "Detection methods for pine wilt disease: A comprehensive review," Plants, vol. 13, no. 20, p. 2876, Oct. 2024, </a:t>
            </a:r>
            <a:r>
              <a:rPr lang="en-US" sz="2400" err="1">
                <a:solidFill>
                  <a:prstClr val="black"/>
                </a:solidFill>
                <a:ea typeface="+mn-lt"/>
                <a:cs typeface="+mn-lt"/>
              </a:rPr>
              <a:t>doi</a:t>
            </a:r>
            <a:r>
              <a:rPr lang="en-US" sz="2400">
                <a:solidFill>
                  <a:prstClr val="black"/>
                </a:solidFill>
                <a:ea typeface="+mn-lt"/>
                <a:cs typeface="+mn-lt"/>
              </a:rPr>
              <a:t>: 10.3390/plants13202876.</a:t>
            </a:r>
            <a:endParaRPr lang="en-US" sz="2400">
              <a:solidFill>
                <a:prstClr val="black"/>
              </a:solidFill>
              <a:ea typeface="Calibri"/>
              <a:cs typeface="Calibri"/>
            </a:endParaRPr>
          </a:p>
        </p:txBody>
      </p:sp>
      <p:pic>
        <p:nvPicPr>
          <p:cNvPr id="20" name="Picture 19" descr="Reliability &amp; Tree Trimming">
            <a:extLst>
              <a:ext uri="{FF2B5EF4-FFF2-40B4-BE49-F238E27FC236}">
                <a16:creationId xmlns:a16="http://schemas.microsoft.com/office/drawing/2014/main" id="{22D190BB-3E48-4F6B-B088-626CE4A272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24616" y="20133541"/>
            <a:ext cx="9383372" cy="3707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F975BD-13B6-2FB6-DA81-DC05DEF92F6F}"/>
              </a:ext>
            </a:extLst>
          </p:cNvPr>
          <p:cNvSpPr txBox="1"/>
          <p:nvPr/>
        </p:nvSpPr>
        <p:spPr>
          <a:xfrm>
            <a:off x="706547" y="11227055"/>
            <a:ext cx="9658336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8F993E"/>
                </a:solidFill>
                <a:latin typeface="Arial"/>
                <a:ea typeface="Calibri"/>
                <a:cs typeface="Arial"/>
              </a:rPr>
              <a:t>Diseases affect millions of acres of forested land in the US.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>
                <a:latin typeface="Arial"/>
                <a:ea typeface="Calibri"/>
                <a:cs typeface="Arial"/>
              </a:rPr>
              <a:t>11-16% of tree species are threatened by extinction due to pest and diseases [2].</a:t>
            </a:r>
          </a:p>
        </p:txBody>
      </p:sp>
    </p:spTree>
    <p:extLst>
      <p:ext uri="{BB962C8B-B14F-4D97-AF65-F5344CB8AC3E}">
        <p14:creationId xmlns:p14="http://schemas.microsoft.com/office/powerpoint/2010/main" val="183380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B4D05BD3F26149845B3B9471E613D0" ma:contentTypeVersion="3" ma:contentTypeDescription="Create a new document." ma:contentTypeScope="" ma:versionID="d0993df46382ba1424e6671a720bd37f">
  <xsd:schema xmlns:xsd="http://www.w3.org/2001/XMLSchema" xmlns:xs="http://www.w3.org/2001/XMLSchema" xmlns:p="http://schemas.microsoft.com/office/2006/metadata/properties" xmlns:ns2="18818139-5856-4594-9446-0ade22aa1a41" targetNamespace="http://schemas.microsoft.com/office/2006/metadata/properties" ma:root="true" ma:fieldsID="4a6fc805904cf4ce7aedfa21b1d488d3" ns2:_="">
    <xsd:import namespace="18818139-5856-4594-9446-0ade22aa1a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818139-5856-4594-9446-0ade22aa1a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856850-3F29-445E-84CE-6332E1B91DDD}">
  <ds:schemaRefs>
    <ds:schemaRef ds:uri="18818139-5856-4594-9446-0ade22aa1a4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64975E3-2FA5-4E32-9185-F9D729715D6F}">
  <ds:schemaRefs>
    <ds:schemaRef ds:uri="18818139-5856-4594-9446-0ade22aa1a4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3AFC1F0-7EBC-4AD6-9106-29CA9D071F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 Foe, Thomas</dc:creator>
  <cp:revision>38</cp:revision>
  <dcterms:created xsi:type="dcterms:W3CDTF">2022-02-15T17:05:15Z</dcterms:created>
  <dcterms:modified xsi:type="dcterms:W3CDTF">2026-09-08T23:25:58Z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0x010100BDB4D05BD3F26149845B3B9471E613D0</vt:lpwstr>
  </property>
</Properties>
</file>